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1D"/>
    <a:srgbClr val="1C1C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72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516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0102E"/>
          </a:solidFill>
          <a:ln w="12700">
            <a:solidFill>
              <a:srgbClr val="20102E"/>
            </a:solidFill>
            <a:prstDash val="solid"/>
          </a:ln>
        </p:spPr>
        <p:txBody>
          <a:bodyPr/>
          <a:lstStyle/>
          <a:p>
            <a:endParaRPr lang="en-US">
              <a:latin typeface="Raleway" pitchFamily="2" charset="7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377440" cy="2377440"/>
          </a:xfrm>
          <a:prstGeom prst="ellipse">
            <a:avLst/>
          </a:prstGeom>
          <a:solidFill>
            <a:srgbClr val="2A0A12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>
              <a:latin typeface="Raleway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0" y="1097280"/>
            <a:ext cx="1097280" cy="1097280"/>
          </a:xfrm>
          <a:prstGeom prst="ellipse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>
              <a:latin typeface="Raleway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>
              <a:latin typeface="Raleway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731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3B5C"/>
                </a:solidFill>
                <a:latin typeface="Raleway" pitchFamily="2" charset="77"/>
                <a:ea typeface="Arial Black" pitchFamily="34" charset="-122"/>
                <a:cs typeface="Arial Black" pitchFamily="34" charset="-120"/>
              </a:rPr>
              <a:t>COMPETITIVE UX RESEARCH</a:t>
            </a:r>
            <a:endParaRPr lang="en-US" sz="1100" dirty="0">
              <a:latin typeface="Raleway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Raleway" pitchFamily="2" charset="77"/>
                <a:ea typeface="Arial Black" pitchFamily="34" charset="-122"/>
                <a:cs typeface="Arial Black" pitchFamily="34" charset="-120"/>
              </a:rPr>
              <a:t>Bouncie</a:t>
            </a:r>
            <a:endParaRPr lang="en-US" sz="7600" dirty="0">
              <a:latin typeface="Raleway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A623"/>
                </a:solidFill>
                <a:latin typeface="Raleway" pitchFamily="2" charset="77"/>
                <a:ea typeface="Arial Black" pitchFamily="34" charset="-122"/>
                <a:cs typeface="Arial Black" pitchFamily="34" charset="-120"/>
              </a:rPr>
              <a:t>UX Gap Analysis</a:t>
            </a:r>
            <a:endParaRPr lang="en-US" sz="3200" dirty="0">
              <a:latin typeface="Raleway" pitchFamily="2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>
              <a:latin typeface="Raleway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2" charset="77"/>
                <a:ea typeface="Calibri" pitchFamily="34" charset="-122"/>
                <a:cs typeface="Calibri" pitchFamily="34" charset="-120"/>
              </a:rPr>
              <a:t>TrackLynk Lite  ·  Competitive UX Research  ·  2025</a:t>
            </a:r>
            <a:endParaRPr lang="en-US" sz="1100" dirty="0">
              <a:latin typeface="Raleway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ONBOARDING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Steps Before You Can Track Your Vehicle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298448"/>
            <a:ext cx="1005840" cy="868680"/>
          </a:xfrm>
          <a:prstGeom prst="rect">
            <a:avLst/>
          </a:prstGeom>
          <a:solidFill>
            <a:srgbClr val="252538"/>
          </a:solidFill>
          <a:ln w="9525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9844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1298448"/>
            <a:ext cx="1005840" cy="868680"/>
          </a:xfrm>
          <a:prstGeom prst="rect">
            <a:avLst/>
          </a:prstGeom>
          <a:solidFill>
            <a:srgbClr val="252538"/>
          </a:solidFill>
          <a:ln w="9525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4520" y="129844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298448"/>
            <a:ext cx="1005840" cy="868680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71800" y="129844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69080" y="1298448"/>
            <a:ext cx="1005840" cy="868680"/>
          </a:xfrm>
          <a:prstGeom prst="rect">
            <a:avLst/>
          </a:prstGeom>
          <a:solidFill>
            <a:srgbClr val="252538"/>
          </a:solidFill>
          <a:ln w="9525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29844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66360" y="1298448"/>
            <a:ext cx="1005840" cy="868680"/>
          </a:xfrm>
          <a:prstGeom prst="rect">
            <a:avLst/>
          </a:prstGeom>
          <a:solidFill>
            <a:srgbClr val="252538"/>
          </a:solidFill>
          <a:ln w="9525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129844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1298448"/>
            <a:ext cx="1005840" cy="868680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29844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0920" y="1298448"/>
            <a:ext cx="1005840" cy="868680"/>
          </a:xfrm>
          <a:prstGeom prst="rect">
            <a:avLst/>
          </a:prstGeom>
          <a:solidFill>
            <a:srgbClr val="252538"/>
          </a:solidFill>
          <a:ln w="9525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60920" y="129844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25880" y="2304288"/>
            <a:ext cx="1005840" cy="868680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25880" y="230428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304288"/>
            <a:ext cx="1005840" cy="868680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23160" y="230428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20440" y="2304288"/>
            <a:ext cx="1005840" cy="868680"/>
          </a:xfrm>
          <a:prstGeom prst="rect">
            <a:avLst/>
          </a:prstGeom>
          <a:solidFill>
            <a:srgbClr val="252538"/>
          </a:solidFill>
          <a:ln w="9525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20440" y="230428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2304288"/>
            <a:ext cx="1005840" cy="868680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230428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15000" y="2304288"/>
            <a:ext cx="1005840" cy="868680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0" y="230428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2304288"/>
            <a:ext cx="1005840" cy="868680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12280" y="2304288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337560"/>
            <a:ext cx="201168" cy="201168"/>
          </a:xfrm>
          <a:prstGeom prst="rect">
            <a:avLst/>
          </a:prstGeom>
          <a:solidFill>
            <a:srgbClr val="2D0E18"/>
          </a:solidFill>
          <a:ln w="1905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" y="3337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Gap Identified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611880"/>
            <a:ext cx="201168" cy="201168"/>
          </a:xfrm>
          <a:prstGeom prst="rect">
            <a:avLst/>
          </a:prstGeom>
          <a:solidFill>
            <a:srgbClr val="252538"/>
          </a:solidFill>
          <a:ln w="9525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611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Step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3291840"/>
            <a:ext cx="1691640" cy="1298448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0" y="3291840"/>
            <a:ext cx="1691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 / 5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C4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Trustpilot Score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7178040" y="3291840"/>
            <a:ext cx="1691640" cy="1298448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78040" y="3291840"/>
            <a:ext cx="1691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 / 5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C4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Store Rating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5029200" y="4626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gap reveals real UX pain that polished app store screenshots hide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0631" y="230366"/>
            <a:ext cx="801706" cy="2901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46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943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Welcome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land directly on a sign-up form. No intro, no value proposition, no reason to care. The product doesn't introduce itself at 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724912"/>
            <a:ext cx="4251960" cy="1874520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HURTS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is a blank registration form — not a product pitch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on what the app does before demanding personal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drop-off before a single field is filled</a:t>
            </a:r>
            <a:endParaRPr lang="en-US" sz="1200" dirty="0"/>
          </a:p>
        </p:txBody>
      </p:sp>
      <p:pic>
        <p:nvPicPr>
          <p:cNvPr id="13" name="Image 0" descr="/sessions/modest-optimistic-ride/mnt/Tracklynk-lite/Boucie screenshots/IMG_93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"/>
            <a:ext cx="1920240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— CURRENT STATE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46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943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Progress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Indicator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screens of setup with zero indication of how far along the user is. They have no idea when it ends — creating anxiety and abandonment.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724912"/>
            <a:ext cx="4251960" cy="1874520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HURTS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gauge time investment before committing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sense of completion creates mid-flow frustration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multi-step flows is to always show progress</a:t>
            </a:r>
            <a:endParaRPr lang="en-US" sz="1200" dirty="0"/>
          </a:p>
        </p:txBody>
      </p:sp>
      <p:pic>
        <p:nvPicPr>
          <p:cNvPr id="13" name="Image 0" descr="/sessions/modest-optimistic-ride/mnt/Tracklynk-lite/Boucie screenshots/IMG_9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"/>
            <a:ext cx="1920240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— CURRENT STATE</a:t>
            </a:r>
            <a:endParaRPr lang="en-US" sz="8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7BBA18E-B365-7792-6356-35281F77835D}"/>
              </a:ext>
            </a:extLst>
          </p:cNvPr>
          <p:cNvSpPr/>
          <p:nvPr/>
        </p:nvSpPr>
        <p:spPr>
          <a:xfrm>
            <a:off x="330631" y="230366"/>
            <a:ext cx="801706" cy="2901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46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943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 Entry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asks for a 17-character alphanumeric code with no guidance on what a VIN is or where to find it. The help link is tiny and easy to miss.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724912"/>
            <a:ext cx="4251960" cy="1874520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HURTS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"Locate your VIN" is a small hyperlink — no visual hierarchy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scan option at this step (only appears later for the device)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filters out non-car-savvy users who give up</a:t>
            </a:r>
            <a:endParaRPr lang="en-US" sz="1200" dirty="0"/>
          </a:p>
        </p:txBody>
      </p:sp>
      <p:pic>
        <p:nvPicPr>
          <p:cNvPr id="13" name="Image 0" descr="/sessions/modest-optimistic-ride/mnt/Tracklynk-lite/Boucie screenshots/IMG_93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"/>
            <a:ext cx="1920240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— CURRENT STATE</a:t>
            </a:r>
            <a:endParaRPr lang="en-US" sz="8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35651BFC-5892-D013-2D8B-52120EA9A731}"/>
              </a:ext>
            </a:extLst>
          </p:cNvPr>
          <p:cNvSpPr/>
          <p:nvPr/>
        </p:nvSpPr>
        <p:spPr>
          <a:xfrm>
            <a:off x="330631" y="230366"/>
            <a:ext cx="801706" cy="2901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46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943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Emblem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Customization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 Early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device is even connected, users are taken through a full color-picker to style their vehicle's logo emblem. Vanity before utility.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724912"/>
            <a:ext cx="4251960" cy="1874520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HURTS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haven't verified setup works — why are they decorating?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belongs post-setup, not mid-onboarding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misaligned product priorities right at the start</a:t>
            </a:r>
            <a:endParaRPr lang="en-US" sz="1200" dirty="0"/>
          </a:p>
        </p:txBody>
      </p:sp>
      <p:pic>
        <p:nvPicPr>
          <p:cNvPr id="13" name="Image 0" descr="/sessions/modest-optimistic-ride/mnt/Tracklynk-lite/Boucie screenshots/IMG_9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"/>
            <a:ext cx="1920240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— CURRENT STATE</a:t>
            </a:r>
            <a:endParaRPr lang="en-US" sz="8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3D9402A6-5B46-C69F-1DBA-55227899C700}"/>
              </a:ext>
            </a:extLst>
          </p:cNvPr>
          <p:cNvSpPr/>
          <p:nvPr/>
        </p:nvSpPr>
        <p:spPr>
          <a:xfrm>
            <a:off x="330631" y="230366"/>
            <a:ext cx="801706" cy="2901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46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943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Hands Off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the Browser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Mid-setup, the native app silently opens a mobile browser (bouncie.app) for device validation and subscription. The experience breaks completely.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724912"/>
            <a:ext cx="4251960" cy="1874520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HURTS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bar and browser chrome appear — trust instantly drops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pattern shifts without warning (native → web)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question if they're still in the right place or got phished</a:t>
            </a:r>
            <a:endParaRPr lang="en-US" sz="1200" dirty="0"/>
          </a:p>
        </p:txBody>
      </p:sp>
      <p:pic>
        <p:nvPicPr>
          <p:cNvPr id="13" name="Image 0" descr="/sessions/modest-optimistic-ride/mnt/Tracklynk-lite/Boucie screenshots/IMG_93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92608"/>
            <a:ext cx="1627632" cy="3520440"/>
          </a:xfrm>
          <a:prstGeom prst="rect">
            <a:avLst/>
          </a:prstGeom>
        </p:spPr>
      </p:pic>
      <p:pic>
        <p:nvPicPr>
          <p:cNvPr id="14" name="Image 1" descr="/sessions/modest-optimistic-ride/mnt/Tracklynk-lite/Boucie screenshots/IMG_9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92608"/>
            <a:ext cx="1627632" cy="35204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92040" y="3858768"/>
            <a:ext cx="1627632" cy="384048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3858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858000" y="3858768"/>
            <a:ext cx="1627632" cy="384048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858000" y="3858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BROWSER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501384" y="1828800"/>
            <a:ext cx="384048" cy="384048"/>
          </a:xfrm>
          <a:prstGeom prst="ellipse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0138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6A755757-3417-A028-998F-333B68962AC1}"/>
              </a:ext>
            </a:extLst>
          </p:cNvPr>
          <p:cNvSpPr/>
          <p:nvPr/>
        </p:nvSpPr>
        <p:spPr>
          <a:xfrm>
            <a:off x="330631" y="230366"/>
            <a:ext cx="801706" cy="2901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46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943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Hidden Until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$9.65/month subscription cost only appears at the very last screen — after the user has invested time through 12 prior steps.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724912"/>
            <a:ext cx="4251960" cy="1874520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HURTS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know what they're committing to until it's too late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a bait-and-switch — erodes trust at the purchase moment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requires showing cost before commitment, not at checkout</a:t>
            </a:r>
            <a:endParaRPr lang="en-US" sz="1200" dirty="0"/>
          </a:p>
        </p:txBody>
      </p:sp>
      <p:pic>
        <p:nvPicPr>
          <p:cNvPr id="13" name="Image 0" descr="/sessions/modest-optimistic-ride/mnt/Tracklynk-lite/Boucie screenshots/IMG_93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"/>
            <a:ext cx="1920240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— CURRENT STATE</a:t>
            </a:r>
            <a:endParaRPr lang="en-US" sz="8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B15618B-9C9D-BAFA-93EA-5D4F8A11AFCE}"/>
              </a:ext>
            </a:extLst>
          </p:cNvPr>
          <p:cNvSpPr/>
          <p:nvPr/>
        </p:nvSpPr>
        <p:spPr>
          <a:xfrm>
            <a:off x="330631" y="230366"/>
            <a:ext cx="801706" cy="2901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201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46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943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Success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ends at "Complete Activation." There's no confirmation, no celebration, no signal that anything actually worked. The journey just stops.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724912"/>
            <a:ext cx="4251960" cy="1874520"/>
          </a:xfrm>
          <a:prstGeom prst="rect">
            <a:avLst/>
          </a:prstGeom>
          <a:solidFill>
            <a:srgbClr val="2D0E18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HURTS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positive reinforcement after a 13-step ordeal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left uncertain — did it work? Is the device active?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chance to set expectations for what happens next</a:t>
            </a:r>
            <a:endParaRPr lang="en-US" sz="1200" dirty="0"/>
          </a:p>
        </p:txBody>
      </p:sp>
      <p:pic>
        <p:nvPicPr>
          <p:cNvPr id="13" name="Image 0" descr="/sessions/modest-optimistic-ride/mnt/Tracklynk-lite/Boucie screenshots/IMG_9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"/>
            <a:ext cx="1920240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LAST SCREEN — NOTHING FOLLOWS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78324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Lite  ·  Bouncie UX Gap Analysis  ·  Competitive Research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Gaps. 7 Places TrackLynk Wins.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8892" y="1298448"/>
            <a:ext cx="2057400" cy="10058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8892" y="1298448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6908" y="13898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908" y="162763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Welcome Screen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908" y="1901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Lead with value, not a 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5164" y="1298448"/>
            <a:ext cx="2057400" cy="10058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5164" y="1298448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83180" y="13898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3180" y="162763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Progress Indicator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3180" y="1901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users exactly where they 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31436" y="1298448"/>
            <a:ext cx="2057400" cy="10058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31436" y="1298448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9452" y="13898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9452" y="162763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 VIN Entry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9452" y="1901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Guide and scan — don't dump a field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7708" y="1298448"/>
            <a:ext cx="2057400" cy="10058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7708" y="1298448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35724" y="13898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35724" y="162763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Emblem Too Early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35724" y="1901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Customise after setup is confirmed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67028" y="2450592"/>
            <a:ext cx="2057400" cy="10058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67028" y="2450592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95044" y="2542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95044" y="277977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→ Browser Switch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95044" y="305409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Keep the entire flow native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43300" y="2450592"/>
            <a:ext cx="2057400" cy="10058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43300" y="2450592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71316" y="2542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71316" y="277977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Hidden at Step 13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71316" y="305409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cost before commitment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19572" y="2450592"/>
            <a:ext cx="2057400" cy="100584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719572" y="2450592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47588" y="2542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47588" y="277977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Success State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47588" y="305409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Celebrate and orient the user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371600" y="371246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a UX race — and Bouncie just handed us the roadmap.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817</Words>
  <Application>Microsoft Macintosh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Bouncie UX Gap Analysis</dc:title>
  <dc:subject>PptxGenJS Presentation</dc:subject>
  <dc:creator>PptxGenJS</dc:creator>
  <cp:lastModifiedBy>Shobhit Singh</cp:lastModifiedBy>
  <cp:revision>2</cp:revision>
  <dcterms:created xsi:type="dcterms:W3CDTF">2026-04-15T11:13:32Z</dcterms:created>
  <dcterms:modified xsi:type="dcterms:W3CDTF">2026-04-17T04:09:03Z</dcterms:modified>
</cp:coreProperties>
</file>